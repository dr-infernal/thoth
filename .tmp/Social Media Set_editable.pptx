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504825"/>
            <a:ext cx="1248668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50" b="1" i="0">
                <a:solidFill>
                  <a:srgbClr val="D4AF37"/>
                </a:solidFill>
                <a:latin typeface="Merriweather"/>
              </a:defRPr>
            </a:pPr>
            <a:r>
              <a:t>THOTH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44334" y="495300"/>
            <a:ext cx="1433066" cy="28575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44334" y="495300"/>
            <a:ext cx="1433066" cy="285750"/>
          </a:xfrm>
          <a:prstGeom prst="rect">
            <a:avLst/>
          </a:prstGeom>
          <a:noFill/>
        </p:spPr>
        <p:txBody>
          <a:bodyPr wrap="square" lIns="171450" rIns="171450" tIns="66675" bIns="66675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75" b="1" i="0">
                <a:solidFill>
                  <a:srgbClr val="0F2440"/>
                </a:solidFill>
                <a:latin typeface="Inter"/>
              </a:defRPr>
            </a:pPr>
            <a:r>
              <a:t>UX THAT WINS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150394"/>
            <a:ext cx="81915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defRPr sz="9000" b="0" i="0">
                <a:solidFill>
                  <a:srgbClr val="D4AF37"/>
                </a:solidFill>
                <a:latin typeface="Merriweather"/>
              </a:defRPr>
            </a:pPr>
            <a:r>
              <a:t>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4102894"/>
            <a:ext cx="8191500" cy="16430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12"/>
              </a:lnSpc>
              <a:spcBef>
                <a:spcPts val="0"/>
              </a:spcBef>
              <a:spcAft>
                <a:spcPts val="0"/>
              </a:spcAft>
              <a:defRPr sz="3450" b="1" i="0">
                <a:solidFill>
                  <a:srgbClr val="FFFFFF"/>
                </a:solidFill>
                <a:latin typeface="Merriweather"/>
              </a:defRPr>
            </a:pPr>
            <a:r>
              <a:t>Your AI tool shouldn't feel like a chore. It should feel like a superpower.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384131"/>
            <a:ext cx="6477000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E0E7EF"/>
                </a:solidFill>
                <a:latin typeface="Inter"/>
              </a:defRPr>
            </a:pPr>
            <a:r>
              <a:t>Thoth was built from the ground up for people who actually use AI every day — not just to check a box.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9610725"/>
            <a:ext cx="1890415" cy="1809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25" b="1" i="0">
                <a:solidFill>
                  <a:srgbClr val="D4AF37"/>
                </a:solidFill>
                <a:latin typeface="Inter"/>
              </a:defRPr>
            </a:pPr>
            <a:r>
              <a:t>@thoth_ai · AI for Humans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23536" y="9363075"/>
            <a:ext cx="1153864" cy="4286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687"/>
              </a:lnSpc>
              <a:spcBef>
                <a:spcPts val="0"/>
              </a:spcBef>
              <a:spcAft>
                <a:spcPts val="0"/>
              </a:spcAft>
              <a:defRPr sz="1125" b="0" i="0">
                <a:solidFill>
                  <a:srgbClr val="E0E7EF"/>
                </a:solidFill>
                <a:latin typeface="Inter"/>
              </a:defRPr>
            </a:pPr>
            <a:r>
              <a:t>Link in bio. Try Thoth free →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514350"/>
            <a:ext cx="1248668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50" b="1" i="0">
                <a:solidFill>
                  <a:srgbClr val="D4AF37"/>
                </a:solidFill>
                <a:latin typeface="Merriweather"/>
              </a:defRPr>
            </a:pPr>
            <a:r>
              <a:t>THOTH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36446" y="495300"/>
            <a:ext cx="1440954" cy="304800"/>
          </a:xfrm>
          <a:prstGeom prst="roundRect">
            <a:avLst/>
          </a:prstGeom>
          <a:solidFill>
            <a:srgbClr val="D4AF37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36446" y="495300"/>
            <a:ext cx="1440954" cy="304800"/>
          </a:xfrm>
          <a:prstGeom prst="rect">
            <a:avLst/>
          </a:prstGeom>
          <a:noFill/>
        </p:spPr>
        <p:txBody>
          <a:bodyPr wrap="square" lIns="171450" rIns="171450" tIns="66675" bIns="66675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75" b="1" i="0">
                <a:solidFill>
                  <a:srgbClr val="D4AF37"/>
                </a:solidFill>
                <a:latin typeface="Inter"/>
              </a:defRPr>
            </a:pPr>
            <a:r>
              <a:t>VS OPENCLAW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05000" y="2299543"/>
            <a:ext cx="6477000" cy="1809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25" b="1" i="0">
                <a:solidFill>
                  <a:srgbClr val="D4AF37"/>
                </a:solidFill>
                <a:latin typeface="Inter"/>
              </a:defRPr>
            </a:pPr>
            <a:r>
              <a:t>THE NUMBERS DON'T LIE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5000" y="2671018"/>
            <a:ext cx="6477000" cy="12266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4830"/>
              </a:lnSpc>
              <a:spcBef>
                <a:spcPts val="0"/>
              </a:spcBef>
              <a:spcAft>
                <a:spcPts val="0"/>
              </a:spcAft>
              <a:defRPr sz="4200" b="1" i="0">
                <a:solidFill>
                  <a:srgbClr val="FFFFFF"/>
                </a:solidFill>
                <a:latin typeface="Merriweather"/>
              </a:defRPr>
            </a:pPr>
            <a:r>
              <a:t>Complexity kills productivity.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5000" y="4088160"/>
            <a:ext cx="6477000" cy="5789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279"/>
              </a:lnSpc>
              <a:spcBef>
                <a:spcPts val="0"/>
              </a:spcBef>
              <a:spcAft>
                <a:spcPts val="0"/>
              </a:spcAft>
              <a:defRPr sz="1425" b="0" i="0">
                <a:solidFill>
                  <a:srgbClr val="E0E7EF"/>
                </a:solidFill>
                <a:latin typeface="Inter"/>
              </a:defRPr>
            </a:pPr>
            <a:r>
              <a:t>OpenClaw buries power behind layers of friction. Thoth puts everything exactly where you need it — instantly.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850" y="6166396"/>
            <a:ext cx="2832050" cy="1754386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2975" y="6461671"/>
            <a:ext cx="2355800" cy="495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900" b="1" i="0">
                <a:solidFill>
                  <a:srgbClr val="D4AF37"/>
                </a:solidFill>
                <a:latin typeface="Merriweather"/>
              </a:defRPr>
            </a:pPr>
            <a:r>
              <a:t>3×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2975" y="7052221"/>
            <a:ext cx="2355800" cy="3732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70"/>
              </a:lnSpc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E0E7EF"/>
                </a:solidFill>
                <a:latin typeface="Inter"/>
              </a:defRPr>
            </a:pPr>
            <a:r>
              <a:t>Faster onboarding than OpenClaw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2975" y="7482632"/>
            <a:ext cx="2355800" cy="1428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E0E7EF"/>
                </a:solidFill>
                <a:latin typeface="Inter"/>
              </a:defRPr>
            </a:pPr>
            <a:r>
              <a:t>Setup in minutes, not days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27400" y="6166396"/>
            <a:ext cx="2832199" cy="1754386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65525" y="6461671"/>
            <a:ext cx="2355949" cy="495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900" b="1" i="0">
                <a:solidFill>
                  <a:srgbClr val="D4AF37"/>
                </a:solidFill>
                <a:latin typeface="Merriweather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65525" y="7052221"/>
            <a:ext cx="2355949" cy="3732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70"/>
              </a:lnSpc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E0E7EF"/>
                </a:solidFill>
                <a:latin typeface="Inter"/>
              </a:defRPr>
            </a:pPr>
            <a:r>
              <a:t>Unified interface for every workflow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65525" y="7482632"/>
            <a:ext cx="2355949" cy="1428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E0E7EF"/>
                </a:solidFill>
                <a:latin typeface="Inter"/>
              </a:defRPr>
            </a:pPr>
            <a:r>
              <a:t>No tab-switching, no confusion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50100" y="6166396"/>
            <a:ext cx="2832050" cy="1754386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88225" y="6461671"/>
            <a:ext cx="2355800" cy="495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900" b="1" i="0">
                <a:solidFill>
                  <a:srgbClr val="D4AF37"/>
                </a:solidFill>
                <a:latin typeface="Merriweather"/>
              </a:defRPr>
            </a:pPr>
            <a: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88225" y="7052221"/>
            <a:ext cx="2355800" cy="3732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70"/>
              </a:lnSpc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E0E7EF"/>
                </a:solidFill>
                <a:latin typeface="Inter"/>
              </a:defRPr>
            </a:pPr>
            <a:r>
              <a:t>Training sessions required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88225" y="7482632"/>
            <a:ext cx="2355800" cy="1428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E0E7EF"/>
                </a:solidFill>
                <a:latin typeface="Inter"/>
              </a:defRPr>
            </a:pPr>
            <a:r>
              <a:t>Intuitive from day 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9515475"/>
            <a:ext cx="1771352" cy="1809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25" b="1" i="0">
                <a:solidFill>
                  <a:srgbClr val="D4AF37"/>
                </a:solidFill>
                <a:latin typeface="Inter"/>
              </a:defRPr>
            </a:pPr>
            <a:r>
              <a:t>@thoth_ai · AI for Humans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3191" y="9420225"/>
            <a:ext cx="1294209" cy="37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25" b="0" i="0">
                <a:solidFill>
                  <a:srgbClr val="E0E7EF"/>
                </a:solidFill>
                <a:latin typeface="Inter"/>
              </a:defRPr>
            </a:pPr>
            <a:r>
              <a:t>See the difference. Try Thoth free →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504825"/>
            <a:ext cx="1248668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50" b="1" i="0">
                <a:solidFill>
                  <a:srgbClr val="D4AF37"/>
                </a:solidFill>
                <a:latin typeface="Merriweather"/>
              </a:defRPr>
            </a:pPr>
            <a:r>
              <a:t>THOTH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31944" y="495300"/>
            <a:ext cx="1745456" cy="28575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31944" y="495300"/>
            <a:ext cx="1745456" cy="285750"/>
          </a:xfrm>
          <a:prstGeom prst="rect">
            <a:avLst/>
          </a:prstGeom>
          <a:noFill/>
        </p:spPr>
        <p:txBody>
          <a:bodyPr wrap="square" lIns="171450" rIns="171450" tIns="66675" bIns="66675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75" b="1" i="0">
                <a:solidFill>
                  <a:srgbClr val="0F2440"/>
                </a:solidFill>
                <a:latin typeface="Inter"/>
              </a:defRPr>
            </a:pPr>
            <a:r>
              <a:t>MAKE THE SWITCH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681288"/>
            <a:ext cx="9067800" cy="1809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25" b="1" i="0">
                <a:solidFill>
                  <a:srgbClr val="D4AF37"/>
                </a:solidFill>
                <a:latin typeface="Inter"/>
              </a:defRPr>
            </a:pPr>
            <a:r>
              <a:t>DONE WITH OPENCLAW'S COMPLEXITY?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071812"/>
            <a:ext cx="9067800" cy="198417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208"/>
              </a:lnSpc>
              <a:spcBef>
                <a:spcPts val="0"/>
              </a:spcBef>
              <a:spcAft>
                <a:spcPts val="0"/>
              </a:spcAft>
              <a:defRPr sz="4650" b="1" i="0">
                <a:solidFill>
                  <a:srgbClr val="FFFFFF"/>
                </a:solidFill>
                <a:latin typeface="Merriweather"/>
              </a:defRPr>
            </a:pPr>
            <a:r>
              <a:t>AI that works with you. Not against you.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5322689"/>
            <a:ext cx="6667500" cy="59709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51"/>
              </a:lnSpc>
              <a:spcBef>
                <a:spcPts val="0"/>
              </a:spcBef>
              <a:spcAft>
                <a:spcPts val="0"/>
              </a:spcAft>
              <a:defRPr sz="1425" b="0" i="0">
                <a:solidFill>
                  <a:srgbClr val="E0E7EF"/>
                </a:solidFill>
                <a:latin typeface="Inter"/>
              </a:defRPr>
            </a:pPr>
            <a:r>
              <a:t>Thoth delivers memory, automation, multi-channel access, and deep research — all inside an interface that takes minutes to master, not months.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600" y="6338888"/>
            <a:ext cx="2293293" cy="371475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6338888"/>
            <a:ext cx="2293293" cy="371475"/>
          </a:xfrm>
          <a:prstGeom prst="rect">
            <a:avLst/>
          </a:prstGeom>
          <a:noFill/>
        </p:spPr>
        <p:txBody>
          <a:bodyPr wrap="square" lIns="190500" rIns="190500" tIns="95250" bIns="9525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E0E7EF"/>
                </a:solidFill>
                <a:latin typeface="Inter"/>
              </a:defRPr>
            </a:pPr>
            <a:r>
              <a:t>Personal Knowledge Graph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625" y="6491288"/>
            <a:ext cx="66675" cy="66675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036243" y="6338888"/>
            <a:ext cx="2083594" cy="371475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36243" y="6338888"/>
            <a:ext cx="2083594" cy="371475"/>
          </a:xfrm>
          <a:prstGeom prst="rect">
            <a:avLst/>
          </a:prstGeom>
          <a:noFill/>
        </p:spPr>
        <p:txBody>
          <a:bodyPr wrap="square" lIns="190500" rIns="190500" tIns="95250" bIns="9525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E0E7EF"/>
                </a:solidFill>
                <a:latin typeface="Inter"/>
              </a:defRPr>
            </a:pPr>
            <a:r>
              <a:t>Scheduled Automations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36268" y="6491288"/>
            <a:ext cx="66675" cy="66675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253186" y="6338888"/>
            <a:ext cx="2073325" cy="371475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53186" y="6338888"/>
            <a:ext cx="2073325" cy="371475"/>
          </a:xfrm>
          <a:prstGeom prst="rect">
            <a:avLst/>
          </a:prstGeom>
          <a:noFill/>
        </p:spPr>
        <p:txBody>
          <a:bodyPr wrap="square" lIns="190500" rIns="190500" tIns="95250" bIns="9525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E0E7EF"/>
                </a:solidFill>
                <a:latin typeface="Inter"/>
              </a:defRPr>
            </a:pPr>
            <a:r>
              <a:t>Works on Your Machine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53211" y="6491288"/>
            <a:ext cx="66675" cy="66675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59861" y="6338888"/>
            <a:ext cx="1378893" cy="371475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59861" y="6338888"/>
            <a:ext cx="1378893" cy="371475"/>
          </a:xfrm>
          <a:prstGeom prst="rect">
            <a:avLst/>
          </a:prstGeom>
          <a:noFill/>
        </p:spPr>
        <p:txBody>
          <a:bodyPr wrap="square" lIns="190500" rIns="190500" tIns="95250" bIns="9525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1" i="0">
                <a:solidFill>
                  <a:srgbClr val="E0E7EF"/>
                </a:solidFill>
                <a:latin typeface="Inter"/>
              </a:defRPr>
            </a:pPr>
            <a:r>
              <a:t>Open Source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59886" y="6491288"/>
            <a:ext cx="66675" cy="66675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09600" y="7129462"/>
            <a:ext cx="2220069" cy="581025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600" y="7129462"/>
            <a:ext cx="2220069" cy="581025"/>
          </a:xfrm>
          <a:prstGeom prst="rect">
            <a:avLst/>
          </a:prstGeom>
          <a:noFill/>
        </p:spPr>
        <p:txBody>
          <a:bodyPr wrap="square" lIns="457200" rIns="457200" tIns="190500" bIns="19050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50" b="1" i="0">
                <a:solidFill>
                  <a:srgbClr val="0F2440"/>
                </a:solidFill>
                <a:latin typeface="Inter"/>
              </a:defRPr>
            </a:pPr>
            <a:r>
              <a:t>Try Thoth Free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96369" y="7239000"/>
            <a:ext cx="2215307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25" b="1" i="0">
                <a:solidFill>
                  <a:srgbClr val="E0E7EF"/>
                </a:solidFill>
                <a:latin typeface="Inter"/>
              </a:defRPr>
            </a:pPr>
            <a:r>
              <a:t>No credit card required. github.com/siddsachar/Thoth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9610725"/>
            <a:ext cx="1771352" cy="1809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25" b="1" i="0">
                <a:solidFill>
                  <a:srgbClr val="D4AF37"/>
                </a:solidFill>
                <a:latin typeface="Inter"/>
              </a:defRPr>
            </a:pPr>
            <a:r>
              <a:t>@thoth_ai · AI for Humans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40650" y="9620250"/>
            <a:ext cx="2336750" cy="1619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E0E7EF"/>
                </a:solidFill>
                <a:latin typeface="Inter"/>
              </a:defRPr>
            </a:pPr>
            <a:r>
              <a:t>OPEN SOURCE · LOCAL · YOURS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